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1"/>
  </p:sldMasterIdLst>
  <p:sldIdLst>
    <p:sldId id="256" r:id="rId2"/>
    <p:sldId id="259" r:id="rId3"/>
    <p:sldId id="258" r:id="rId4"/>
    <p:sldId id="260" r:id="rId5"/>
    <p:sldId id="261" r:id="rId6"/>
    <p:sldId id="263"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DBDDF98-C922-483F-97E9-3E76B0201B42}"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5399784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DDF98-C922-483F-97E9-3E76B0201B42}"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538560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DBDDF98-C922-483F-97E9-3E76B0201B42}"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46871916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DBDDF98-C922-483F-97E9-3E76B0201B42}" type="datetimeFigureOut">
              <a:rPr lang="en-US" smtClean="0"/>
              <a:t>5/5/2026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520877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DBDDF98-C922-483F-97E9-3E76B0201B42}"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B8B3671-A306-4A69-8480-FA9BE839245D}"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547176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DDF98-C922-483F-97E9-3E76B0201B42}"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452935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DDF98-C922-483F-97E9-3E76B0201B42}"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81697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5/5/2026</a:t>
            </a:fld>
            <a:endParaRPr lang="en-US"/>
          </a:p>
        </p:txBody>
      </p:sp>
      <p:sp>
        <p:nvSpPr>
          <p:cNvPr id="6" name="Footer Placeholder 5"/>
          <p:cNvSpPr>
            <a:spLocks noGrp="1"/>
          </p:cNvSpPr>
          <p:nvPr>
            <p:ph type="ftr" sz="quarter" idx="11"/>
          </p:nvPr>
        </p:nvSpPr>
        <p:spPr>
          <a:xfrm>
            <a:off x="804672" y="6236208"/>
            <a:ext cx="5167503" cy="320040"/>
          </a:xfrm>
        </p:spPr>
        <p:txBody>
          <a:bodyPr/>
          <a:lstStyle>
            <a:lvl1pPr>
              <a:defRPr>
                <a:solidFill>
                  <a:srgbClr val="FFFFFF">
                    <a:alpha val="69804"/>
                  </a:srgbClr>
                </a:solidFill>
              </a:defRPr>
            </a:lvl1p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75463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90000"/>
                  </a:srgbClr>
                </a:solidFill>
                <a:effectLst>
                  <a:outerShdw blurRad="50800" dist="38100" dir="2700000" algn="tl" rotWithShape="0">
                    <a:prstClr val="black">
                      <a:alpha val="43000"/>
                    </a:prstClr>
                  </a:outerShdw>
                </a:effectLst>
              </a:defRPr>
            </a:lvl1pPr>
          </a:lstStyle>
          <a:p>
            <a:fld id="{5DBDDF98-C922-483F-97E9-3E76B0201B42}" type="datetimeFigureOut">
              <a:rPr lang="en-US" smtClean="0"/>
              <a:t>5/5/2026</a:t>
            </a:fld>
            <a:endParaRPr lang="en-US"/>
          </a:p>
        </p:txBody>
      </p:sp>
      <p:sp>
        <p:nvSpPr>
          <p:cNvPr id="6" name="Footer Placeholder 5"/>
          <p:cNvSpPr>
            <a:spLocks noGrp="1"/>
          </p:cNvSpPr>
          <p:nvPr>
            <p:ph type="ftr" sz="quarter" idx="11"/>
          </p:nvPr>
        </p:nvSpPr>
        <p:spPr>
          <a:xfrm>
            <a:off x="808523" y="6236208"/>
            <a:ext cx="5103729" cy="320040"/>
          </a:xfrm>
        </p:spPr>
        <p:txBody>
          <a:bodyPr/>
          <a:lstStyle>
            <a:lvl1pPr>
              <a:defRPr>
                <a:solidFill>
                  <a:srgbClr val="FFFFFF">
                    <a:alpha val="70000"/>
                  </a:srgbClr>
                </a:solidFill>
              </a:defRPr>
            </a:lvl1p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901977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949370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630298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DBDDF98-C922-483F-97E9-3E76B0201B42}" type="datetimeFigureOut">
              <a:rPr lang="en-US" smtClean="0"/>
              <a:pPr/>
              <a:t>5/5/2026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285688147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38A0EE-7E75-B4E4-4C82-1EF1E063ABBF}"/>
              </a:ext>
            </a:extLst>
          </p:cNvPr>
          <p:cNvPicPr>
            <a:picLocks noChangeAspect="1"/>
          </p:cNvPicPr>
          <p:nvPr/>
        </p:nvPicPr>
        <p:blipFill>
          <a:blip r:embed="rId2">
            <a:duotone>
              <a:schemeClr val="accent2">
                <a:shade val="45000"/>
                <a:satMod val="135000"/>
              </a:schemeClr>
              <a:prstClr val="white"/>
            </a:duotone>
            <a:alphaModFix amt="40000"/>
          </a:blip>
          <a:srcRect t="2968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27A4876-CD90-8581-930C-27BDC429BDCF}"/>
              </a:ext>
            </a:extLst>
          </p:cNvPr>
          <p:cNvSpPr>
            <a:spLocks noGrp="1"/>
          </p:cNvSpPr>
          <p:nvPr>
            <p:ph type="ctrTitle"/>
          </p:nvPr>
        </p:nvSpPr>
        <p:spPr>
          <a:xfrm>
            <a:off x="1600200" y="2386744"/>
            <a:ext cx="8991600" cy="1645920"/>
          </a:xfrm>
          <a:solidFill>
            <a:srgbClr val="FFFFFF"/>
          </a:solidFill>
        </p:spPr>
        <p:txBody>
          <a:bodyPr>
            <a:normAutofit/>
          </a:bodyPr>
          <a:lstStyle/>
          <a:p>
            <a:r>
              <a:rPr lang="es-MX" dirty="0" err="1"/>
              <a:t>SafeSTEP</a:t>
            </a:r>
            <a:endParaRPr lang="en-US" dirty="0"/>
          </a:p>
        </p:txBody>
      </p:sp>
      <p:sp>
        <p:nvSpPr>
          <p:cNvPr id="6" name="Subtitle 5">
            <a:extLst>
              <a:ext uri="{FF2B5EF4-FFF2-40B4-BE49-F238E27FC236}">
                <a16:creationId xmlns:a16="http://schemas.microsoft.com/office/drawing/2014/main" id="{9A567C4F-B55F-F93F-1077-E94C8576064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2682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5ED4C-E87B-2284-512B-35C9194C8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8AD79-452B-166D-F39F-5004F54F1589}"/>
              </a:ext>
            </a:extLst>
          </p:cNvPr>
          <p:cNvSpPr>
            <a:spLocks noGrp="1"/>
          </p:cNvSpPr>
          <p:nvPr>
            <p:ph type="title"/>
          </p:nvPr>
        </p:nvSpPr>
        <p:spPr/>
        <p:txBody>
          <a:bodyPr/>
          <a:lstStyle/>
          <a:p>
            <a:r>
              <a:rPr lang="es-MX" dirty="0"/>
              <a:t>AGENT NAME</a:t>
            </a:r>
            <a:endParaRPr lang="en-US" dirty="0"/>
          </a:p>
        </p:txBody>
      </p:sp>
      <p:sp>
        <p:nvSpPr>
          <p:cNvPr id="3" name="Content Placeholder 2">
            <a:extLst>
              <a:ext uri="{FF2B5EF4-FFF2-40B4-BE49-F238E27FC236}">
                <a16:creationId xmlns:a16="http://schemas.microsoft.com/office/drawing/2014/main" id="{A2A009B1-5D6D-18E7-4B76-80743FB78D22}"/>
              </a:ext>
            </a:extLst>
          </p:cNvPr>
          <p:cNvSpPr>
            <a:spLocks noGrp="1"/>
          </p:cNvSpPr>
          <p:nvPr>
            <p:ph idx="1"/>
          </p:nvPr>
        </p:nvSpPr>
        <p:spPr/>
        <p:txBody>
          <a:bodyPr/>
          <a:lstStyle/>
          <a:p>
            <a:pPr marL="0" indent="0">
              <a:buNone/>
            </a:pPr>
            <a:r>
              <a:rPr lang="en-US" b="1" dirty="0"/>
              <a:t>What’s the name of your </a:t>
            </a:r>
            <a:r>
              <a:rPr lang="en-US" b="1" dirty="0" err="1"/>
              <a:t>NeuralSeek</a:t>
            </a:r>
            <a:r>
              <a:rPr lang="en-US" b="1" dirty="0"/>
              <a:t> Agent?</a:t>
            </a:r>
          </a:p>
          <a:p>
            <a:pPr marL="0" indent="0">
              <a:buNone/>
            </a:pPr>
            <a:r>
              <a:rPr lang="en-US" b="1" dirty="0" err="1"/>
              <a:t>SafeStep</a:t>
            </a:r>
            <a:r>
              <a:rPr lang="en-US" b="1" dirty="0"/>
              <a:t>: </a:t>
            </a:r>
            <a:r>
              <a:rPr lang="en-US" dirty="0"/>
              <a:t>this is an AI-powered digital assistant designed to help older adults and non-tech-savvy users safely use smartphones and computers. It provides simple, real-time guidance for everyday digital tasks while helping users avoid scams, unsafe websites, and confusing online processes.</a:t>
            </a:r>
          </a:p>
        </p:txBody>
      </p:sp>
    </p:spTree>
    <p:extLst>
      <p:ext uri="{BB962C8B-B14F-4D97-AF65-F5344CB8AC3E}">
        <p14:creationId xmlns:p14="http://schemas.microsoft.com/office/powerpoint/2010/main" val="192534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74F4-DAB2-9004-D113-21C4A4E33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CD731-5E7F-9CA9-A68C-5BC622954594}"/>
              </a:ext>
            </a:extLst>
          </p:cNvPr>
          <p:cNvSpPr>
            <a:spLocks noGrp="1"/>
          </p:cNvSpPr>
          <p:nvPr>
            <p:ph type="title"/>
          </p:nvPr>
        </p:nvSpPr>
        <p:spPr/>
        <p:txBody>
          <a:bodyPr/>
          <a:lstStyle/>
          <a:p>
            <a:r>
              <a:rPr lang="es-MX" dirty="0"/>
              <a:t>AGENT PURPOSE</a:t>
            </a:r>
            <a:endParaRPr lang="en-US" dirty="0"/>
          </a:p>
        </p:txBody>
      </p:sp>
      <p:sp>
        <p:nvSpPr>
          <p:cNvPr id="3" name="Content Placeholder 2">
            <a:extLst>
              <a:ext uri="{FF2B5EF4-FFF2-40B4-BE49-F238E27FC236}">
                <a16:creationId xmlns:a16="http://schemas.microsoft.com/office/drawing/2014/main" id="{49479A3D-F0D8-4FC9-D233-CC12227B9A0C}"/>
              </a:ext>
            </a:extLst>
          </p:cNvPr>
          <p:cNvSpPr>
            <a:spLocks noGrp="1"/>
          </p:cNvSpPr>
          <p:nvPr>
            <p:ph idx="1"/>
          </p:nvPr>
        </p:nvSpPr>
        <p:spPr/>
        <p:txBody>
          <a:bodyPr/>
          <a:lstStyle/>
          <a:p>
            <a:pPr marL="0" indent="0">
              <a:buNone/>
            </a:pPr>
            <a:r>
              <a:rPr lang="en-US" b="1" dirty="0"/>
              <a:t>What is the agent’s primary purpose? What problem is it solving or what task is it automating/supporting?</a:t>
            </a:r>
          </a:p>
          <a:p>
            <a:pPr marL="0" indent="0">
              <a:buNone/>
            </a:pPr>
            <a:r>
              <a:rPr lang="en-US" dirty="0" err="1"/>
              <a:t>SafeStep’s</a:t>
            </a:r>
            <a:r>
              <a:rPr lang="en-US" dirty="0"/>
              <a:t> primary purpose is to support digital inclusion by helping users complete common digital tasks with confidence and safety. It solves the problem of digital confusion and vulnerability, especially for people who struggle with smartphones, laptops, websites, online payments, and unfamiliar apps.</a:t>
            </a:r>
          </a:p>
        </p:txBody>
      </p:sp>
    </p:spTree>
    <p:extLst>
      <p:ext uri="{BB962C8B-B14F-4D97-AF65-F5344CB8AC3E}">
        <p14:creationId xmlns:p14="http://schemas.microsoft.com/office/powerpoint/2010/main" val="905338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2F260-FA07-E99E-587D-331173BB4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16BF1-0E6A-C3D6-D46C-A0E0A0FEE00F}"/>
              </a:ext>
            </a:extLst>
          </p:cNvPr>
          <p:cNvSpPr>
            <a:spLocks noGrp="1"/>
          </p:cNvSpPr>
          <p:nvPr>
            <p:ph type="title"/>
          </p:nvPr>
        </p:nvSpPr>
        <p:spPr/>
        <p:txBody>
          <a:bodyPr/>
          <a:lstStyle/>
          <a:p>
            <a:r>
              <a:rPr lang="es-MX" dirty="0"/>
              <a:t>TARGET AUDIENCE</a:t>
            </a:r>
            <a:endParaRPr lang="en-US" dirty="0"/>
          </a:p>
        </p:txBody>
      </p:sp>
      <p:sp>
        <p:nvSpPr>
          <p:cNvPr id="3" name="Content Placeholder 2">
            <a:extLst>
              <a:ext uri="{FF2B5EF4-FFF2-40B4-BE49-F238E27FC236}">
                <a16:creationId xmlns:a16="http://schemas.microsoft.com/office/drawing/2014/main" id="{3218A81E-FB8C-BE28-04D1-A0711A54821A}"/>
              </a:ext>
            </a:extLst>
          </p:cNvPr>
          <p:cNvSpPr>
            <a:spLocks noGrp="1"/>
          </p:cNvSpPr>
          <p:nvPr>
            <p:ph idx="1"/>
          </p:nvPr>
        </p:nvSpPr>
        <p:spPr/>
        <p:txBody>
          <a:bodyPr/>
          <a:lstStyle/>
          <a:p>
            <a:pPr marL="0" indent="0">
              <a:buNone/>
            </a:pPr>
            <a:r>
              <a:rPr lang="en-US" b="1" dirty="0"/>
              <a:t>Who will use this agent? What are their goals and pain points? What is their industry?</a:t>
            </a:r>
          </a:p>
          <a:p>
            <a:pPr marL="0" indent="0">
              <a:buNone/>
            </a:pPr>
            <a:r>
              <a:rPr lang="en-US" dirty="0"/>
              <a:t>This agent is intended for older adults, non-tech-savvy users, and also family members or caregivers who want loved ones to use technology more safely and independently.  Their goals are to complete everyday digital tasks, avoid scams, and feel more unsafe websites, and trouble following technical instructions. confident online and gain more independence in this area. Their pain points include confusing interfaces, fear of making mistakes or being phished/scammed, difficulty recognizing </a:t>
            </a:r>
          </a:p>
        </p:txBody>
      </p:sp>
    </p:spTree>
    <p:extLst>
      <p:ext uri="{BB962C8B-B14F-4D97-AF65-F5344CB8AC3E}">
        <p14:creationId xmlns:p14="http://schemas.microsoft.com/office/powerpoint/2010/main" val="2738622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19C39-E6C5-8EDA-4C20-144BC7573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5BD7A-16F3-6175-D91B-1361D3DC0296}"/>
              </a:ext>
            </a:extLst>
          </p:cNvPr>
          <p:cNvSpPr>
            <a:spLocks noGrp="1"/>
          </p:cNvSpPr>
          <p:nvPr>
            <p:ph type="title"/>
          </p:nvPr>
        </p:nvSpPr>
        <p:spPr/>
        <p:txBody>
          <a:bodyPr/>
          <a:lstStyle/>
          <a:p>
            <a:r>
              <a:rPr lang="es-MX" dirty="0"/>
              <a:t>CORE FUNCTIONS</a:t>
            </a:r>
            <a:endParaRPr lang="en-US" dirty="0"/>
          </a:p>
        </p:txBody>
      </p:sp>
      <p:sp>
        <p:nvSpPr>
          <p:cNvPr id="6" name="Rectangle 3">
            <a:extLst>
              <a:ext uri="{FF2B5EF4-FFF2-40B4-BE49-F238E27FC236}">
                <a16:creationId xmlns:a16="http://schemas.microsoft.com/office/drawing/2014/main" id="{AFC801D7-8C25-4A6E-E693-FFDC142C2CBC}"/>
              </a:ext>
            </a:extLst>
          </p:cNvPr>
          <p:cNvSpPr>
            <a:spLocks noGrp="1" noChangeArrowheads="1"/>
          </p:cNvSpPr>
          <p:nvPr>
            <p:ph idx="1"/>
          </p:nvPr>
        </p:nvSpPr>
        <p:spPr bwMode="auto">
          <a:xfrm>
            <a:off x="2161044" y="2548013"/>
            <a:ext cx="78699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dirty="0"/>
              <a:t>gives step-by-step guidance for smartphone and laptop tasks </a:t>
            </a:r>
          </a:p>
          <a:p>
            <a:pPr eaLnBrk="0" fontAlgn="base" hangingPunct="0">
              <a:spcBef>
                <a:spcPct val="0"/>
              </a:spcBef>
              <a:spcAft>
                <a:spcPct val="0"/>
              </a:spcAft>
              <a:buClrTx/>
            </a:pPr>
            <a:r>
              <a:rPr lang="en-US" altLang="en-US" dirty="0"/>
              <a:t>explains apps and websites in plain language </a:t>
            </a:r>
          </a:p>
          <a:p>
            <a:pPr eaLnBrk="0" fontAlgn="base" hangingPunct="0">
              <a:spcBef>
                <a:spcPct val="0"/>
              </a:spcBef>
              <a:spcAft>
                <a:spcPct val="0"/>
              </a:spcAft>
              <a:buClrTx/>
            </a:pPr>
            <a:r>
              <a:rPr lang="en-US" altLang="en-US" dirty="0"/>
              <a:t>helps users make online payments more safely </a:t>
            </a:r>
          </a:p>
          <a:p>
            <a:pPr eaLnBrk="0" fontAlgn="base" hangingPunct="0">
              <a:spcBef>
                <a:spcPct val="0"/>
              </a:spcBef>
              <a:spcAft>
                <a:spcPct val="0"/>
              </a:spcAft>
              <a:buClrTx/>
            </a:pPr>
            <a:r>
              <a:rPr lang="en-US" altLang="en-US" dirty="0"/>
              <a:t>checks for warning signs of suspicious or unsafe websites </a:t>
            </a:r>
          </a:p>
          <a:p>
            <a:pPr eaLnBrk="0" fontAlgn="base" hangingPunct="0">
              <a:spcBef>
                <a:spcPct val="0"/>
              </a:spcBef>
              <a:spcAft>
                <a:spcPct val="0"/>
              </a:spcAft>
              <a:buClrTx/>
            </a:pPr>
            <a:r>
              <a:rPr lang="en-US" altLang="en-US" dirty="0"/>
              <a:t>helps users recognize scam messages, phishing emails, or fraud attempts </a:t>
            </a:r>
          </a:p>
          <a:p>
            <a:pPr eaLnBrk="0" fontAlgn="base" hangingPunct="0">
              <a:spcBef>
                <a:spcPct val="0"/>
              </a:spcBef>
              <a:spcAft>
                <a:spcPct val="0"/>
              </a:spcAft>
              <a:buClrTx/>
            </a:pPr>
            <a:r>
              <a:rPr lang="en-US" altLang="en-US" dirty="0"/>
              <a:t>answers digital help questions in real time </a:t>
            </a:r>
          </a:p>
          <a:p>
            <a:pPr eaLnBrk="0" fontAlgn="base" hangingPunct="0">
              <a:spcBef>
                <a:spcPct val="0"/>
              </a:spcBef>
              <a:spcAft>
                <a:spcPct val="0"/>
              </a:spcAft>
              <a:buClrTx/>
            </a:pPr>
            <a:r>
              <a:rPr lang="en-US" altLang="en-US" dirty="0"/>
              <a:t>adapts explanations to the user’s skill level </a:t>
            </a:r>
          </a:p>
          <a:p>
            <a:pPr eaLnBrk="0" fontAlgn="base" hangingPunct="0">
              <a:spcBef>
                <a:spcPct val="0"/>
              </a:spcBef>
              <a:spcAft>
                <a:spcPct val="0"/>
              </a:spcAft>
              <a:buClrTx/>
            </a:pPr>
            <a:r>
              <a:rPr lang="en-US" altLang="en-US" dirty="0"/>
              <a:t>supports voice-based or text-based interaction </a:t>
            </a:r>
          </a:p>
          <a:p>
            <a:pPr eaLnBrk="0" fontAlgn="base" hangingPunct="0">
              <a:spcBef>
                <a:spcPct val="0"/>
              </a:spcBef>
              <a:spcAft>
                <a:spcPct val="0"/>
              </a:spcAft>
              <a:buClrTx/>
            </a:pPr>
            <a:endParaRPr lang="en-US" altLang="en-US" dirty="0"/>
          </a:p>
          <a:p>
            <a:pPr marL="0" indent="0" eaLnBrk="0" fontAlgn="base" hangingPunct="0">
              <a:spcBef>
                <a:spcPct val="0"/>
              </a:spcBef>
              <a:spcAft>
                <a:spcPct val="0"/>
              </a:spcAft>
              <a:buClrTx/>
              <a:buNone/>
            </a:pPr>
            <a:r>
              <a:rPr lang="en-US" altLang="en-US" b="1" dirty="0"/>
              <a:t>WOW Feature: </a:t>
            </a:r>
            <a:r>
              <a:rPr lang="en-US" altLang="en-US" dirty="0"/>
              <a:t>receiving immediate and personalized assistance in simple terms</a:t>
            </a:r>
          </a:p>
        </p:txBody>
      </p:sp>
    </p:spTree>
    <p:extLst>
      <p:ext uri="{BB962C8B-B14F-4D97-AF65-F5344CB8AC3E}">
        <p14:creationId xmlns:p14="http://schemas.microsoft.com/office/powerpoint/2010/main" val="3543607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CFED3-B2B6-24D4-94DD-8FFA557877B3}"/>
              </a:ext>
            </a:extLst>
          </p:cNvPr>
          <p:cNvSpPr>
            <a:spLocks noGrp="1"/>
          </p:cNvSpPr>
          <p:nvPr>
            <p:ph type="title"/>
          </p:nvPr>
        </p:nvSpPr>
        <p:spPr/>
        <p:txBody>
          <a:bodyPr/>
          <a:lstStyle/>
          <a:p>
            <a:r>
              <a:rPr lang="es-MX" dirty="0"/>
              <a:t>SOURCES</a:t>
            </a:r>
            <a:endParaRPr lang="en-US" dirty="0"/>
          </a:p>
        </p:txBody>
      </p:sp>
      <p:sp>
        <p:nvSpPr>
          <p:cNvPr id="3" name="Content Placeholder 2">
            <a:extLst>
              <a:ext uri="{FF2B5EF4-FFF2-40B4-BE49-F238E27FC236}">
                <a16:creationId xmlns:a16="http://schemas.microsoft.com/office/drawing/2014/main" id="{03B7BBEC-4159-B957-0951-0D167A23DA04}"/>
              </a:ext>
            </a:extLst>
          </p:cNvPr>
          <p:cNvSpPr>
            <a:spLocks noGrp="1"/>
          </p:cNvSpPr>
          <p:nvPr>
            <p:ph sz="half" idx="1"/>
          </p:nvPr>
        </p:nvSpPr>
        <p:spPr>
          <a:xfrm>
            <a:off x="1581915" y="2415140"/>
            <a:ext cx="4271771" cy="3552894"/>
          </a:xfrm>
        </p:spPr>
        <p:txBody>
          <a:bodyPr>
            <a:noAutofit/>
          </a:bodyPr>
          <a:lstStyle/>
          <a:p>
            <a:pPr marL="0" indent="0">
              <a:buNone/>
            </a:pPr>
            <a:r>
              <a:rPr lang="en-US" sz="1200" b="1" dirty="0"/>
              <a:t>Source(s):</a:t>
            </a:r>
          </a:p>
          <a:p>
            <a:r>
              <a:rPr lang="en-US" sz="1200" dirty="0"/>
              <a:t>trusted cybersecurity guidance </a:t>
            </a:r>
          </a:p>
          <a:p>
            <a:r>
              <a:rPr lang="en-US" sz="1200" dirty="0"/>
              <a:t>website safety indicators and scam warning patterns </a:t>
            </a:r>
          </a:p>
          <a:p>
            <a:r>
              <a:rPr lang="en-US" sz="1200" dirty="0"/>
              <a:t>app help documentation and public support pages </a:t>
            </a:r>
          </a:p>
          <a:p>
            <a:r>
              <a:rPr lang="en-US" sz="1200" dirty="0"/>
              <a:t>curated digital literacy resources </a:t>
            </a:r>
          </a:p>
          <a:p>
            <a:r>
              <a:rPr lang="en-US" sz="1200" dirty="0"/>
              <a:t>user-provided screenshots, prompts, or task descriptions </a:t>
            </a:r>
          </a:p>
          <a:p>
            <a:pPr marL="0" indent="0">
              <a:buNone/>
            </a:pPr>
            <a:r>
              <a:rPr lang="en-US" sz="1200" b="1" dirty="0"/>
              <a:t>Format(s):</a:t>
            </a:r>
          </a:p>
          <a:p>
            <a:r>
              <a:rPr lang="en-US" sz="1200" dirty="0"/>
              <a:t>text </a:t>
            </a:r>
          </a:p>
          <a:p>
            <a:r>
              <a:rPr lang="en-US" sz="1200" dirty="0"/>
              <a:t>FAQs </a:t>
            </a:r>
          </a:p>
          <a:p>
            <a:r>
              <a:rPr lang="en-US" sz="1200" dirty="0"/>
              <a:t>website metadata </a:t>
            </a:r>
          </a:p>
          <a:p>
            <a:r>
              <a:rPr lang="en-US" sz="1200" dirty="0"/>
              <a:t>screenshots </a:t>
            </a:r>
          </a:p>
          <a:p>
            <a:r>
              <a:rPr lang="en-US" sz="1200" dirty="0"/>
              <a:t>support articles </a:t>
            </a:r>
          </a:p>
          <a:p>
            <a:r>
              <a:rPr lang="en-US" sz="1200" dirty="0"/>
              <a:t>structured safety checklists</a:t>
            </a:r>
          </a:p>
          <a:p>
            <a:pPr marL="0" indent="0">
              <a:buNone/>
            </a:pPr>
            <a:endParaRPr lang="en-US" sz="1200" dirty="0"/>
          </a:p>
        </p:txBody>
      </p:sp>
      <p:sp>
        <p:nvSpPr>
          <p:cNvPr id="4" name="Content Placeholder 3">
            <a:extLst>
              <a:ext uri="{FF2B5EF4-FFF2-40B4-BE49-F238E27FC236}">
                <a16:creationId xmlns:a16="http://schemas.microsoft.com/office/drawing/2014/main" id="{AE5AD7E2-134D-C70C-602A-D8D82DE2260C}"/>
              </a:ext>
            </a:extLst>
          </p:cNvPr>
          <p:cNvSpPr>
            <a:spLocks noGrp="1"/>
          </p:cNvSpPr>
          <p:nvPr>
            <p:ph sz="half" idx="2"/>
          </p:nvPr>
        </p:nvSpPr>
        <p:spPr>
          <a:xfrm>
            <a:off x="6338316" y="2535062"/>
            <a:ext cx="4270247" cy="3432972"/>
          </a:xfrm>
        </p:spPr>
        <p:txBody>
          <a:bodyPr>
            <a:normAutofit fontScale="32500" lnSpcReduction="20000"/>
          </a:bodyPr>
          <a:lstStyle/>
          <a:p>
            <a:pPr marL="0" indent="0">
              <a:buNone/>
            </a:pPr>
            <a:r>
              <a:rPr lang="en-US" sz="3700" b="1" dirty="0"/>
              <a:t>Update Frequency:</a:t>
            </a:r>
          </a:p>
          <a:p>
            <a:r>
              <a:rPr lang="en-US" sz="3700" dirty="0"/>
              <a:t>quarterly updated safety guidance </a:t>
            </a:r>
          </a:p>
          <a:p>
            <a:r>
              <a:rPr lang="en-US" sz="3700" dirty="0"/>
              <a:t>ongoing updates to scam patterns and common online risks </a:t>
            </a:r>
          </a:p>
          <a:p>
            <a:r>
              <a:rPr lang="en-US" sz="3700" dirty="0"/>
              <a:t>periodic refresh of app instructions and help resources </a:t>
            </a:r>
          </a:p>
          <a:p>
            <a:pPr marL="0" indent="0">
              <a:buNone/>
            </a:pPr>
            <a:r>
              <a:rPr lang="en-US" sz="3700" b="1" dirty="0"/>
              <a:t>Ownership &amp; Access Controls:</a:t>
            </a:r>
          </a:p>
          <a:p>
            <a:r>
              <a:rPr lang="en-US" sz="3700" dirty="0"/>
              <a:t>trusted public safety and digital literacy resources </a:t>
            </a:r>
          </a:p>
          <a:p>
            <a:r>
              <a:rPr lang="en-US" sz="3700" dirty="0"/>
              <a:t>organization-owned knowledge base if deployed by a company or service provider </a:t>
            </a:r>
          </a:p>
          <a:p>
            <a:r>
              <a:rPr lang="en-US" sz="3700" dirty="0"/>
              <a:t>user-specific data only when permission is given </a:t>
            </a:r>
          </a:p>
          <a:p>
            <a:r>
              <a:rPr lang="en-US" sz="3700" dirty="0"/>
              <a:t>minimal data retention and privacy-focused access controls</a:t>
            </a:r>
          </a:p>
          <a:p>
            <a:pPr marL="0" indent="0">
              <a:buNone/>
            </a:pPr>
            <a:endParaRPr lang="en-US" dirty="0"/>
          </a:p>
        </p:txBody>
      </p:sp>
    </p:spTree>
    <p:extLst>
      <p:ext uri="{BB962C8B-B14F-4D97-AF65-F5344CB8AC3E}">
        <p14:creationId xmlns:p14="http://schemas.microsoft.com/office/powerpoint/2010/main" val="88683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B8E11-ECF0-ADCA-3625-A27846431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4605D-DCAC-3B42-C205-F828CB900FA5}"/>
              </a:ext>
            </a:extLst>
          </p:cNvPr>
          <p:cNvSpPr>
            <a:spLocks noGrp="1"/>
          </p:cNvSpPr>
          <p:nvPr>
            <p:ph type="title"/>
          </p:nvPr>
        </p:nvSpPr>
        <p:spPr/>
        <p:txBody>
          <a:bodyPr/>
          <a:lstStyle/>
          <a:p>
            <a:r>
              <a:rPr lang="es-MX" dirty="0" err="1"/>
              <a:t>Tone</a:t>
            </a:r>
            <a:r>
              <a:rPr lang="es-MX" dirty="0"/>
              <a:t> &amp; </a:t>
            </a:r>
            <a:r>
              <a:rPr lang="es-MX" dirty="0" err="1"/>
              <a:t>personality</a:t>
            </a:r>
            <a:endParaRPr lang="en-US" dirty="0"/>
          </a:p>
        </p:txBody>
      </p:sp>
      <p:sp>
        <p:nvSpPr>
          <p:cNvPr id="3" name="Content Placeholder 2">
            <a:extLst>
              <a:ext uri="{FF2B5EF4-FFF2-40B4-BE49-F238E27FC236}">
                <a16:creationId xmlns:a16="http://schemas.microsoft.com/office/drawing/2014/main" id="{6E826BBC-F66C-1CF5-AAD8-108425859F6C}"/>
              </a:ext>
            </a:extLst>
          </p:cNvPr>
          <p:cNvSpPr>
            <a:spLocks noGrp="1"/>
          </p:cNvSpPr>
          <p:nvPr>
            <p:ph sz="half" idx="1"/>
          </p:nvPr>
        </p:nvSpPr>
        <p:spPr>
          <a:xfrm>
            <a:off x="2231136" y="2669973"/>
            <a:ext cx="7729727" cy="3552894"/>
          </a:xfrm>
        </p:spPr>
        <p:txBody>
          <a:bodyPr>
            <a:noAutofit/>
          </a:bodyPr>
          <a:lstStyle/>
          <a:p>
            <a:pPr marL="0" indent="0">
              <a:buNone/>
            </a:pPr>
            <a:r>
              <a:rPr lang="en-US" dirty="0"/>
              <a:t>The tone should be friendly, patient, calm, supportive, and nonjudgmental. It should avoid technical jargon and never make users feel embarrassed for asking basic questions. Its voice is friendly and easy to understand.</a:t>
            </a:r>
          </a:p>
        </p:txBody>
      </p:sp>
    </p:spTree>
    <p:extLst>
      <p:ext uri="{BB962C8B-B14F-4D97-AF65-F5344CB8AC3E}">
        <p14:creationId xmlns:p14="http://schemas.microsoft.com/office/powerpoint/2010/main" val="588552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4AB2-263C-D505-6637-3AB8C6451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11F34-06EB-C18F-DBC6-DAEEB7D4A9E8}"/>
              </a:ext>
            </a:extLst>
          </p:cNvPr>
          <p:cNvSpPr>
            <a:spLocks noGrp="1"/>
          </p:cNvSpPr>
          <p:nvPr>
            <p:ph type="title"/>
          </p:nvPr>
        </p:nvSpPr>
        <p:spPr/>
        <p:txBody>
          <a:bodyPr/>
          <a:lstStyle/>
          <a:p>
            <a:r>
              <a:rPr lang="es-MX" dirty="0"/>
              <a:t>LIMITATIONS AND RISKS</a:t>
            </a:r>
            <a:endParaRPr lang="en-US" dirty="0"/>
          </a:p>
        </p:txBody>
      </p:sp>
      <p:sp>
        <p:nvSpPr>
          <p:cNvPr id="3" name="Content Placeholder 2">
            <a:extLst>
              <a:ext uri="{FF2B5EF4-FFF2-40B4-BE49-F238E27FC236}">
                <a16:creationId xmlns:a16="http://schemas.microsoft.com/office/drawing/2014/main" id="{9358A2B6-8310-845D-5C04-272070ED7493}"/>
              </a:ext>
            </a:extLst>
          </p:cNvPr>
          <p:cNvSpPr>
            <a:spLocks noGrp="1"/>
          </p:cNvSpPr>
          <p:nvPr>
            <p:ph idx="1"/>
          </p:nvPr>
        </p:nvSpPr>
        <p:spPr/>
        <p:txBody>
          <a:bodyPr>
            <a:normAutofit fontScale="77500" lnSpcReduction="20000"/>
          </a:bodyPr>
          <a:lstStyle/>
          <a:p>
            <a:pPr marL="0" indent="0">
              <a:buNone/>
            </a:pPr>
            <a:r>
              <a:rPr lang="en-US" b="1" dirty="0"/>
              <a:t>What limitations should users know?  What are the ethical, legal, or technical risks?</a:t>
            </a:r>
          </a:p>
          <a:p>
            <a:pPr marL="0" indent="0">
              <a:buNone/>
            </a:pPr>
            <a:r>
              <a:rPr lang="en-US" dirty="0"/>
              <a:t>Users should know that the agent is a support tool, not a replacement for human judgment or professional cybersecurity services. It may help identify warning signs of unsafe websites or scams, but it cannot guarantee that a website is completely safe. It may also misunderstand screenshots, unfamiliar interfaces, or new scam tactics. Privacy is another important issue, especially if users are sharing sensitive information or financial tasks.</a:t>
            </a:r>
          </a:p>
          <a:p>
            <a:pPr marL="0" indent="0">
              <a:buNone/>
            </a:pPr>
            <a:r>
              <a:rPr lang="en-US" dirty="0"/>
              <a:t>Key risks include:</a:t>
            </a:r>
          </a:p>
          <a:p>
            <a:r>
              <a:rPr lang="en-US" dirty="0"/>
              <a:t>false confidence about website safety </a:t>
            </a:r>
          </a:p>
          <a:p>
            <a:r>
              <a:rPr lang="en-US" dirty="0"/>
              <a:t>privacy concerns when handling personal or financial information </a:t>
            </a:r>
          </a:p>
          <a:p>
            <a:r>
              <a:rPr lang="en-US" dirty="0"/>
              <a:t>misinterpretation of screenshots or user questions </a:t>
            </a:r>
          </a:p>
          <a:p>
            <a:r>
              <a:rPr lang="en-US" dirty="0"/>
              <a:t>overreliance on the tool instead of independent caution </a:t>
            </a:r>
          </a:p>
          <a:p>
            <a:r>
              <a:rPr lang="en-US" dirty="0"/>
              <a:t>accessibility issues if the interface itself is not designed well</a:t>
            </a:r>
          </a:p>
        </p:txBody>
      </p:sp>
    </p:spTree>
    <p:extLst>
      <p:ext uri="{BB962C8B-B14F-4D97-AF65-F5344CB8AC3E}">
        <p14:creationId xmlns:p14="http://schemas.microsoft.com/office/powerpoint/2010/main" val="1669936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6D70E-0454-2A45-BE23-679BBD29A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21DFE-3A20-6558-8C44-87EC5BF5447A}"/>
              </a:ext>
            </a:extLst>
          </p:cNvPr>
          <p:cNvSpPr>
            <a:spLocks noGrp="1"/>
          </p:cNvSpPr>
          <p:nvPr>
            <p:ph type="title"/>
          </p:nvPr>
        </p:nvSpPr>
        <p:spPr/>
        <p:txBody>
          <a:bodyPr/>
          <a:lstStyle/>
          <a:p>
            <a:r>
              <a:rPr lang="es-MX" dirty="0"/>
              <a:t>BENEFITS AND VALUE</a:t>
            </a:r>
            <a:endParaRPr lang="en-US" dirty="0"/>
          </a:p>
        </p:txBody>
      </p:sp>
      <p:sp>
        <p:nvSpPr>
          <p:cNvPr id="3" name="Content Placeholder 2">
            <a:extLst>
              <a:ext uri="{FF2B5EF4-FFF2-40B4-BE49-F238E27FC236}">
                <a16:creationId xmlns:a16="http://schemas.microsoft.com/office/drawing/2014/main" id="{AFB809D1-04BD-1925-40EE-4297BF2876B7}"/>
              </a:ext>
            </a:extLst>
          </p:cNvPr>
          <p:cNvSpPr>
            <a:spLocks noGrp="1"/>
          </p:cNvSpPr>
          <p:nvPr>
            <p:ph idx="1"/>
          </p:nvPr>
        </p:nvSpPr>
        <p:spPr>
          <a:xfrm>
            <a:off x="974360" y="2637369"/>
            <a:ext cx="4811843" cy="3582874"/>
          </a:xfrm>
        </p:spPr>
        <p:txBody>
          <a:bodyPr>
            <a:noAutofit/>
          </a:bodyPr>
          <a:lstStyle/>
          <a:p>
            <a:pPr marL="0" indent="0">
              <a:buNone/>
            </a:pPr>
            <a:r>
              <a:rPr lang="en-US" sz="1400" b="1" dirty="0"/>
              <a:t>Who benefits most from this agent? How will success be measured?</a:t>
            </a:r>
          </a:p>
          <a:p>
            <a:pPr marL="0" indent="0">
              <a:buNone/>
            </a:pPr>
            <a:r>
              <a:rPr lang="en-US" sz="1400" dirty="0"/>
              <a:t>The people who benefit most are older adults, beginners with technology, caregivers, and communities affected by digital exclusion. Success could be measured by:</a:t>
            </a:r>
          </a:p>
          <a:p>
            <a:r>
              <a:rPr lang="en-US" sz="1400" dirty="0"/>
              <a:t>fewer user mistakes during digital tasks </a:t>
            </a:r>
          </a:p>
          <a:p>
            <a:r>
              <a:rPr lang="en-US" sz="1400" dirty="0"/>
              <a:t>greater confidence using devices </a:t>
            </a:r>
          </a:p>
          <a:p>
            <a:r>
              <a:rPr lang="en-US" sz="1400" dirty="0"/>
              <a:t>improved task completion rates </a:t>
            </a:r>
          </a:p>
          <a:p>
            <a:r>
              <a:rPr lang="en-US" sz="1400" dirty="0"/>
              <a:t>reduced exposure to scams or suspicious sites </a:t>
            </a:r>
          </a:p>
          <a:p>
            <a:r>
              <a:rPr lang="en-US" sz="1400" dirty="0"/>
              <a:t>increased independence in accessing online services </a:t>
            </a:r>
          </a:p>
        </p:txBody>
      </p:sp>
      <p:sp>
        <p:nvSpPr>
          <p:cNvPr id="5" name="TextBox 4">
            <a:extLst>
              <a:ext uri="{FF2B5EF4-FFF2-40B4-BE49-F238E27FC236}">
                <a16:creationId xmlns:a16="http://schemas.microsoft.com/office/drawing/2014/main" id="{07B2315A-28E4-BF6C-FB12-90BF91D683C9}"/>
              </a:ext>
            </a:extLst>
          </p:cNvPr>
          <p:cNvSpPr txBox="1"/>
          <p:nvPr/>
        </p:nvSpPr>
        <p:spPr>
          <a:xfrm>
            <a:off x="6278384" y="2637369"/>
            <a:ext cx="4559506" cy="2677656"/>
          </a:xfrm>
          <a:prstGeom prst="rect">
            <a:avLst/>
          </a:prstGeom>
          <a:noFill/>
        </p:spPr>
        <p:txBody>
          <a:bodyPr wrap="square">
            <a:spAutoFit/>
          </a:bodyPr>
          <a:lstStyle/>
          <a:p>
            <a:pPr marL="0" indent="0">
              <a:buNone/>
            </a:pPr>
            <a:r>
              <a:rPr lang="en-US" sz="1400" b="1" dirty="0"/>
              <a:t>Frame ROI</a:t>
            </a:r>
          </a:p>
          <a:p>
            <a:pPr marL="0" indent="0">
              <a:buNone/>
            </a:pPr>
            <a:endParaRPr lang="en-US" sz="1400" b="1" dirty="0"/>
          </a:p>
          <a:p>
            <a:r>
              <a:rPr lang="en-US" sz="1400" b="1" dirty="0"/>
              <a:t>Risk of not solving this:</a:t>
            </a:r>
            <a:br>
              <a:rPr lang="en-US" sz="1400" dirty="0"/>
            </a:br>
            <a:r>
              <a:rPr lang="en-US" sz="1400" dirty="0"/>
              <a:t>If this problem is not solved, many people remain digitally excluded, more vulnerable to scams, and dependent on others for basic online tasks like payments, communication, healthcare access, and account management.</a:t>
            </a:r>
          </a:p>
          <a:p>
            <a:r>
              <a:rPr lang="en-US" sz="1400" b="1" dirty="0"/>
              <a:t>Gain when solved:</a:t>
            </a:r>
            <a:br>
              <a:rPr lang="en-US" sz="1400" dirty="0"/>
            </a:br>
            <a:r>
              <a:rPr lang="en-US" sz="1400" dirty="0"/>
              <a:t>When solved, users gain confidence, independence, safety, and better access to digital services. Organizations also benefit because users can complete tasks more successfully and require less manual support.</a:t>
            </a:r>
          </a:p>
        </p:txBody>
      </p:sp>
    </p:spTree>
    <p:extLst>
      <p:ext uri="{BB962C8B-B14F-4D97-AF65-F5344CB8AC3E}">
        <p14:creationId xmlns:p14="http://schemas.microsoft.com/office/powerpoint/2010/main" val="1770192847"/>
      </p:ext>
    </p:extLst>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docProps/app.xml><?xml version="1.0" encoding="utf-8"?>
<Properties xmlns="http://schemas.openxmlformats.org/officeDocument/2006/extended-properties" xmlns:vt="http://schemas.openxmlformats.org/officeDocument/2006/docPropsVTypes">
  <Template>TM10001115[[fn=Parcel]]</Template>
  <TotalTime>49</TotalTime>
  <Words>753</Words>
  <Application>Microsoft Office PowerPoint</Application>
  <PresentationFormat>Widescreen</PresentationFormat>
  <Paragraphs>67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SafeSTEP</vt:lpstr>
      <vt:lpstr>AGENT NAME</vt:lpstr>
      <vt:lpstr>AGENT PURPOSE</vt:lpstr>
      <vt:lpstr>TARGET AUDIENCE</vt:lpstr>
      <vt:lpstr>CORE FUNCTIONS</vt:lpstr>
      <vt:lpstr>SOURCES</vt:lpstr>
      <vt:lpstr>Tone &amp; personality</vt:lpstr>
      <vt:lpstr>LIMITATIONS AND RISKS</vt:lpstr>
      <vt:lpstr>BENEFITS AND VALUE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Angulo Martinez, Pamela - (pangulomartinez)</dc:creator>
  <cp:lastModifiedBy>Angulo Martinez, Pamela - (pangulomartinez)</cp:lastModifiedBy>
  <cp:revision>1</cp:revision>
  <dcterms:created xsi:type="dcterms:W3CDTF">2026-05-06T01:07:52Z</dcterms:created>
  <dcterms:modified xsi:type="dcterms:W3CDTF">2026-05-06T01:57:41Z</dcterms:modified>
</cp:coreProperties>
</file>